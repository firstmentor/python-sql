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3232"/>
    <a:srgbClr val="B2B2B2"/>
    <a:srgbClr val="202020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PhAnim="0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关系图"/>
          <p:cNvPicPr>
            <a:picLocks noChangeAspect="1"/>
          </p:cNvPicPr>
          <p:nvPr/>
        </p:nvPicPr>
        <p:blipFill>
          <a:blip r:embed="rId2"/>
          <a:srcRect r="2528" b="10909"/>
          <a:stretch>
            <a:fillRect/>
          </a:stretch>
        </p:blipFill>
        <p:spPr>
          <a:xfrm>
            <a:off x="239184" y="692150"/>
            <a:ext cx="11885083" cy="61102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117" y="549275"/>
            <a:ext cx="12192000" cy="1511300"/>
          </a:xfrm>
          <a:prstGeom prst="rect">
            <a:avLst/>
          </a:prstGeom>
          <a:gradFill rotWithShape="0">
            <a:gsLst>
              <a:gs pos="0">
                <a:schemeClr val="bg2">
                  <a:gamma/>
                  <a:tint val="0"/>
                  <a:invGamma/>
                </a:schemeClr>
              </a:gs>
              <a:gs pos="100000">
                <a:schemeClr val="bg2">
                  <a:alpha val="53999"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2051" name="Rectangle 3"/>
          <p:cNvSpPr>
            <a:spLocks noChangeArrowheads="1"/>
          </p:cNvSpPr>
          <p:nvPr>
            <p:ph type="subTitle" idx="1"/>
          </p:nvPr>
        </p:nvSpPr>
        <p:spPr>
          <a:xfrm>
            <a:off x="2544233" y="2492375"/>
            <a:ext cx="7393517" cy="1222375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2056" name="Rectangle 8"/>
          <p:cNvSpPr>
            <a:spLocks noChangeArrowheads="1"/>
          </p:cNvSpPr>
          <p:nvPr>
            <p:ph type="ctrTitle"/>
          </p:nvPr>
        </p:nvSpPr>
        <p:spPr>
          <a:xfrm>
            <a:off x="1007533" y="620713"/>
            <a:ext cx="103632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11" name="Rectangle 4"/>
          <p:cNvSpPr>
            <a:spLocks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2" name="Rectangle 5"/>
          <p:cNvSpPr>
            <a:spLocks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3" name="Rectangle 6"/>
          <p:cNvSpPr>
            <a:spLocks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</p:bldLst>
  </p:timing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544C22-EC13-4D2B-BB53-07ACC9C2DCD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544C22-EC13-4D2B-BB53-07ACC9C2DCD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2117" y="333375"/>
            <a:ext cx="12192000" cy="1009650"/>
          </a:xfrm>
          <a:prstGeom prst="rect">
            <a:avLst/>
          </a:prstGeom>
          <a:gradFill rotWithShape="0">
            <a:gsLst>
              <a:gs pos="0">
                <a:schemeClr val="bg2">
                  <a:gamma/>
                  <a:tint val="0"/>
                  <a:invGamma/>
                </a:schemeClr>
              </a:gs>
              <a:gs pos="100000">
                <a:schemeClr val="bg2">
                  <a:alpha val="53999"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pic>
        <p:nvPicPr>
          <p:cNvPr id="1027" name="Picture 3" descr="关系图"/>
          <p:cNvPicPr>
            <a:picLocks noChangeAspect="1"/>
          </p:cNvPicPr>
          <p:nvPr/>
        </p:nvPicPr>
        <p:blipFill>
          <a:blip r:embed="rId12"/>
          <a:srcRect t="1094" r="8122" b="13318"/>
          <a:stretch>
            <a:fillRect/>
          </a:stretch>
        </p:blipFill>
        <p:spPr>
          <a:xfrm>
            <a:off x="7730067" y="4438650"/>
            <a:ext cx="4453467" cy="23336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8" name="Rectangle 4"/>
          <p:cNvSpPr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9" name="Rectangle 5"/>
          <p:cNvSpPr/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30" name="Rectangle 6"/>
          <p:cNvSpPr>
            <a:spLocks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1" name="Rectangle 7"/>
          <p:cNvSpPr>
            <a:spLocks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zh-CN" altLang="en-US"/>
          </a:p>
        </p:txBody>
      </p:sp>
      <p:sp>
        <p:nvSpPr>
          <p:cNvPr id="1032" name="Rectangle 8"/>
          <p:cNvSpPr>
            <a:spLocks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4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6" grpId="0" bldLvl="0" animBg="1"/>
      <p:bldP spid="1028" grpId="0" bldLvl="0"/>
    </p:bldLst>
  </p:timing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sz="6000"/>
              <a:t>Python Numpy </a:t>
            </a:r>
            <a:endParaRPr lang="zh-CN" altLang="en-US" sz="600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altLang="zh-CN"/>
              <a:t>pip install numpy</a:t>
            </a:r>
            <a:endParaRPr lang="en-IN" altLang="zh-CN"/>
          </a:p>
          <a:p>
            <a:r>
              <a:rPr lang="en-IN" altLang="zh-CN"/>
              <a:t>print(np.__version__)</a:t>
            </a:r>
            <a:endParaRPr lang="en-IN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383010" cy="4966335"/>
          </a:xfrm>
        </p:spPr>
        <p:txBody>
          <a:bodyPr/>
          <a:p>
            <a:r>
              <a:rPr lang="en-IN" altLang="en-US" sz="2400" b="1">
                <a:solidFill>
                  <a:srgbClr val="FF0000"/>
                </a:solidFill>
              </a:rPr>
              <a:t>Numpy is a Python Package which stands for “Numerical Python”.</a:t>
            </a:r>
            <a:endParaRPr lang="en-IN" altLang="en-US" sz="2400"/>
          </a:p>
          <a:p>
            <a:r>
              <a:rPr lang="en-IN" altLang="en-US" sz="2400" b="1">
                <a:solidFill>
                  <a:srgbClr val="FF0000"/>
                </a:solidFill>
              </a:rPr>
              <a:t>This was created in 2005 by Travis Oliphant.</a:t>
            </a:r>
            <a:endParaRPr lang="en-IN" altLang="en-US" sz="2400" b="1">
              <a:solidFill>
                <a:srgbClr val="FF0000"/>
              </a:solidFill>
            </a:endParaRPr>
          </a:p>
          <a:p>
            <a:r>
              <a:rPr lang="en-IN" altLang="en-US" sz="2400" b="1">
                <a:solidFill>
                  <a:srgbClr val="323232"/>
                </a:solidFill>
              </a:rPr>
              <a:t>Using NumPy we can perform the following functionalities.</a:t>
            </a:r>
            <a:endParaRPr lang="en-IN" altLang="en-US" sz="2400" b="1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altLang="en-US" sz="2400"/>
              <a:t>1. </a:t>
            </a: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Mathematical and Logical calculations on Array.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2.Fourier transforms and routines for shape manipulation.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3.It has built in functions for Liner Algebra random number generation.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4.User for scientific calculations.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5.It is faster than Python List.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6.It is fast because it is associated with c Programming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 altLang="en-US"/>
              <a:t>Numpy</a:t>
            </a:r>
            <a:endParaRPr lang="en-I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IN" altLang="en-US" sz="1800" b="1">
                <a:solidFill>
                  <a:schemeClr val="accent2"/>
                </a:solidFill>
              </a:rPr>
              <a:t>. NumPy is often callend as an alternate for </a:t>
            </a:r>
            <a:r>
              <a:rPr lang="en-IN" altLang="en-US" sz="1800" b="1">
                <a:solidFill>
                  <a:srgbClr val="FF0000"/>
                </a:solidFill>
              </a:rPr>
              <a:t>MatLab</a:t>
            </a:r>
            <a:r>
              <a:rPr lang="en-IN" altLang="en-US" sz="1800" b="1">
                <a:solidFill>
                  <a:schemeClr val="accent2"/>
                </a:solidFill>
              </a:rPr>
              <a:t> (a programming platform designed specifically for engineers and scientists for Data Analysis, Developing Algorithms, Create Models and applications etc).</a:t>
            </a: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1800" b="1">
                <a:solidFill>
                  <a:schemeClr val="accent2"/>
                </a:solidFill>
              </a:rPr>
              <a:t>. Numpy is used with packages link </a:t>
            </a:r>
            <a:r>
              <a:rPr lang="en-IN" altLang="en-US" sz="1800" b="1">
                <a:solidFill>
                  <a:srgbClr val="FF0000"/>
                </a:solidFill>
              </a:rPr>
              <a:t>Scipy(Scientific python)</a:t>
            </a:r>
            <a:r>
              <a:rPr lang="en-IN" altLang="en-US" sz="1800" b="1">
                <a:solidFill>
                  <a:schemeClr val="accent2"/>
                </a:solidFill>
              </a:rPr>
              <a:t> and </a:t>
            </a:r>
            <a:r>
              <a:rPr lang="en-IN" altLang="en-US" sz="1800" b="1">
                <a:solidFill>
                  <a:srgbClr val="FF0000"/>
                </a:solidFill>
              </a:rPr>
              <a:t>Mat-Plotlib (Plotting Library)</a:t>
            </a:r>
            <a:r>
              <a:rPr lang="en-IN" altLang="en-US" sz="1800" b="1">
                <a:solidFill>
                  <a:schemeClr val="accent2"/>
                </a:solidFill>
              </a:rPr>
              <a:t> and this makes it capable to replace MatLab.</a:t>
            </a: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2400" b="1">
                <a:solidFill>
                  <a:schemeClr val="accent2"/>
                </a:solidFill>
              </a:rPr>
              <a:t>1.  1 Dimensional Array id referred to as Vector.</a:t>
            </a:r>
            <a:endParaRPr lang="en-IN" altLang="en-US" sz="24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2400" b="1">
                <a:solidFill>
                  <a:schemeClr val="accent2"/>
                </a:solidFill>
              </a:rPr>
              <a:t>2.  2 Dimensional Array is referred to as Matrix.</a:t>
            </a:r>
            <a:endParaRPr lang="en-IN" altLang="en-US" sz="24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2400" b="1">
                <a:solidFill>
                  <a:schemeClr val="accent2"/>
                </a:solidFill>
              </a:rPr>
              <a:t>3.  3 Dimensional Array is referred to as Tensor</a:t>
            </a:r>
            <a:endParaRPr lang="en-IN" altLang="en-US" sz="2400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 altLang="en-US"/>
              <a:t>What is Numpy</a:t>
            </a:r>
            <a:endParaRPr lang="en-IN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684020"/>
            <a:ext cx="10753725" cy="34893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 altLang="en-US"/>
              <a:t>Why use Numpy</a:t>
            </a:r>
            <a:endParaRPr lang="en-IN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67080" y="1417955"/>
            <a:ext cx="10459720" cy="5179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Creating Arrays with Dimensions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NumPy is used to work with arrays. The array object in NumPy is called ndarray.</a:t>
            </a:r>
            <a:endParaRPr lang="en-US"/>
          </a:p>
          <a:p>
            <a:endParaRPr lang="en-US"/>
          </a:p>
          <a:p>
            <a:r>
              <a:rPr lang="en-US"/>
              <a:t>We can create a NumPy ndarray object by using the array() function.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Dimensions in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sz="2400"/>
              <a:t>A dimension in arrays is one level of array depth (nested arrays).</a:t>
            </a:r>
            <a:endParaRPr lang="en-US" sz="2400"/>
          </a:p>
          <a:p>
            <a:pPr marL="0" indent="0">
              <a:buNone/>
            </a:pPr>
            <a:endParaRPr lang="en-IN" altLang="en-US"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0-D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IN" altLang="en-US"/>
              <a:t>0-D arrays, or Scalars, are the elements in an array. Each value in an array is a 0-D array.</a:t>
            </a:r>
            <a:endParaRPr lang="en-IN" altLang="en-US"/>
          </a:p>
          <a:p>
            <a:endParaRPr lang="en-IN" altLang="en-US"/>
          </a:p>
          <a:p>
            <a:r>
              <a:rPr lang="en-IN" altLang="en-US" b="1">
                <a:solidFill>
                  <a:srgbClr val="FF0000"/>
                </a:solidFill>
              </a:rPr>
              <a:t>import numpy as np</a:t>
            </a:r>
            <a:endParaRPr lang="en-IN" altLang="en-US" b="1">
              <a:solidFill>
                <a:srgbClr val="FF0000"/>
              </a:solidFill>
            </a:endParaRPr>
          </a:p>
          <a:p>
            <a:r>
              <a:rPr lang="en-IN" altLang="en-US" b="1">
                <a:solidFill>
                  <a:srgbClr val="FF0000"/>
                </a:solidFill>
              </a:rPr>
              <a:t>arr = np.array(42)</a:t>
            </a:r>
            <a:endParaRPr lang="en-IN" altLang="en-US" b="1">
              <a:solidFill>
                <a:srgbClr val="FF0000"/>
              </a:solidFill>
            </a:endParaRPr>
          </a:p>
          <a:p>
            <a:r>
              <a:rPr lang="en-IN" altLang="en-US" b="1">
                <a:solidFill>
                  <a:srgbClr val="FF0000"/>
                </a:solidFill>
              </a:rPr>
              <a:t>print(arr)</a:t>
            </a:r>
            <a:r>
              <a:rPr lang="en-IN" altLang="en-US"/>
              <a:t>	</a:t>
            </a:r>
            <a:endParaRPr lang="en-I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1-D array.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An array that has 0-D arrays as its elements is called uni-dimensional or 1-D array.</a:t>
            </a:r>
            <a:endParaRPr lang="en-US"/>
          </a:p>
          <a:p>
            <a:r>
              <a:rPr lang="en-US"/>
              <a:t>These are the most common and basic arrays.</a:t>
            </a:r>
            <a:endParaRPr lang="en-US"/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import numpy as np</a:t>
            </a:r>
            <a:endParaRPr lang="en-US" b="1"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b="1"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 = np.array([1, 2, 3, 4, 5])</a:t>
            </a:r>
            <a:endParaRPr lang="en-US" b="1"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b="1"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print(arr)</a:t>
            </a:r>
            <a:endParaRPr lang="en-US" b="1"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2-D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An array that has 1-D arrays as its elements is called a 2-D array.</a:t>
            </a:r>
            <a:endParaRPr lang="en-US"/>
          </a:p>
          <a:p>
            <a:r>
              <a:rPr lang="en-US"/>
              <a:t>These are often used to represent matrix or 2nd order tensors.</a:t>
            </a:r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import numpy as np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arr = np.array([[1, 2, 3], [4, 5, 6]])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print(arr)</a:t>
            </a:r>
            <a:endParaRPr 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3-D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An array that has 2-D arrays (matrices) as its elements is called 3-D array.</a:t>
            </a:r>
            <a:endParaRPr lang="en-US"/>
          </a:p>
          <a:p>
            <a:r>
              <a:rPr lang="en-US"/>
              <a:t>These are often used to represent a 3rd order tensor.</a:t>
            </a:r>
            <a:endParaRPr lang="en-US"/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import numpy as np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arr = np.array([[[1, 2, 3], [4, 5, 6]], [[1, 2, 3], [4, 5, 6]]])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print(arr)</a:t>
            </a:r>
            <a:endParaRPr 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5 dimensions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import numpy as np</a:t>
            </a:r>
            <a:endParaRPr lang="en-US"/>
          </a:p>
          <a:p>
            <a:endParaRPr lang="en-US"/>
          </a:p>
          <a:p>
            <a:r>
              <a:rPr lang="en-US"/>
              <a:t>arr = np.array([1, 2, 3, 4], ndmin=6)</a:t>
            </a:r>
            <a:endParaRPr lang="en-US"/>
          </a:p>
          <a:p>
            <a:endParaRPr lang="en-US"/>
          </a:p>
          <a:p>
            <a:r>
              <a:rPr lang="en-US"/>
              <a:t>print(arr)</a:t>
            </a:r>
            <a:endParaRPr lang="en-US"/>
          </a:p>
          <a:p>
            <a:r>
              <a:rPr lang="en-US"/>
              <a:t>print('number of dimensions :', arr.ndim)</a:t>
            </a:r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- Indexing, Accessing Array Elemen</a:t>
            </a:r>
            <a:r>
              <a:rPr lang="en-IN" altLang="en-US"/>
              <a:t>t</a:t>
            </a:r>
            <a:endParaRPr lang="en-I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Array indexing is the same as accessing an array element.</a:t>
            </a:r>
            <a:endParaRPr lang="en-US"/>
          </a:p>
          <a:p>
            <a:r>
              <a:rPr lang="en-IN" altLang="en-US"/>
              <a:t>start with 0 , Second 1</a:t>
            </a:r>
            <a:endParaRPr lang="en-IN" altLang="en-US"/>
          </a:p>
          <a:p>
            <a:endParaRPr lang="en-I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Slicing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Slicing in python means taking elements from one given index to another given index.</a:t>
            </a:r>
            <a:endParaRPr lang="en-US"/>
          </a:p>
          <a:p>
            <a:endParaRPr lang="en-US"/>
          </a:p>
          <a:p>
            <a:r>
              <a:rPr lang="en-US"/>
              <a:t>We pass slice instead of index like this: [start:end].</a:t>
            </a:r>
            <a:endParaRPr lang="en-US"/>
          </a:p>
          <a:p>
            <a:endParaRPr lang="en-US"/>
          </a:p>
          <a:p>
            <a:r>
              <a:rPr lang="en-US"/>
              <a:t>We can also define the step, like this: [start:end:step].</a:t>
            </a:r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Data Types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Data Types in Python</a:t>
            </a:r>
            <a:endParaRPr lang="en-US"/>
          </a:p>
          <a:p>
            <a:r>
              <a:rPr lang="en-US" sz="2000" b="1">
                <a:solidFill>
                  <a:srgbClr val="FF0000"/>
                </a:solidFill>
              </a:rPr>
              <a:t>strings - used to represent text data, the text is given under quote marks. e.g. "ABCD"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integer - used to represent integer numbers. e.g. -1, -2, -3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float - used to represent real numbers. e.g. 1.2, 42.42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boolean - used to represent True or False.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complex - used to represent complex numbers. e.g. 1.0 + 2.0j, 1.5 + 2.5j</a:t>
            </a:r>
            <a:endParaRPr lang="en-US" sz="2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Data Types in NumPy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sz="2000"/>
              <a:t>i - integer</a:t>
            </a:r>
            <a:endParaRPr lang="en-US" sz="2000"/>
          </a:p>
          <a:p>
            <a:r>
              <a:rPr lang="en-US" sz="2000"/>
              <a:t>b - boolean</a:t>
            </a:r>
            <a:endParaRPr lang="en-US" sz="2000"/>
          </a:p>
          <a:p>
            <a:r>
              <a:rPr lang="en-US" sz="2000"/>
              <a:t>u - unsigned integer</a:t>
            </a:r>
            <a:endParaRPr lang="en-US" sz="2000"/>
          </a:p>
          <a:p>
            <a:r>
              <a:rPr lang="en-US" sz="2000"/>
              <a:t>f - float</a:t>
            </a:r>
            <a:endParaRPr lang="en-US" sz="2000"/>
          </a:p>
          <a:p>
            <a:r>
              <a:rPr lang="en-US" sz="2000"/>
              <a:t>c - complex float</a:t>
            </a:r>
            <a:endParaRPr lang="en-US" sz="2000"/>
          </a:p>
          <a:p>
            <a:r>
              <a:rPr lang="en-US" sz="2000"/>
              <a:t>m - timedelta</a:t>
            </a:r>
            <a:endParaRPr lang="en-US" sz="2000"/>
          </a:p>
          <a:p>
            <a:r>
              <a:rPr lang="en-US" sz="2000"/>
              <a:t>M - datetime</a:t>
            </a:r>
            <a:endParaRPr lang="en-US" sz="2000"/>
          </a:p>
          <a:p>
            <a:r>
              <a:rPr lang="en-US" sz="2000"/>
              <a:t>O - object</a:t>
            </a:r>
            <a:endParaRPr lang="en-US" sz="2000"/>
          </a:p>
          <a:p>
            <a:r>
              <a:rPr lang="en-US" sz="2000"/>
              <a:t>S - string</a:t>
            </a:r>
            <a:endParaRPr lang="en-US" sz="2000"/>
          </a:p>
          <a:p>
            <a:r>
              <a:rPr lang="en-US" sz="2000"/>
              <a:t>U - unicode string</a:t>
            </a:r>
            <a:endParaRPr lang="en-US" sz="2000"/>
          </a:p>
          <a:p>
            <a:r>
              <a:rPr lang="en-US" sz="2000"/>
              <a:t>V - fixed chunk of memory for other type ( void )</a:t>
            </a:r>
            <a:endParaRPr lang="en-US"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siness Cooperate">
  <a:themeElements>
    <a:clrScheme name="Business Cooper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siness Cooperate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Business Cooper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3085</Words>
  <Application>WPS Presentation</Application>
  <PresentationFormat>宽屏</PresentationFormat>
  <Paragraphs>123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Noto Sans Symbols2</vt:lpstr>
      <vt:lpstr>OpenSymbol</vt:lpstr>
      <vt:lpstr>Business Cooperate</vt:lpstr>
      <vt:lpstr>Python Numpy </vt:lpstr>
      <vt:lpstr>Numpy </vt:lpstr>
      <vt:lpstr>Numpy</vt:lpstr>
      <vt:lpstr>What is Numpy</vt:lpstr>
      <vt:lpstr>Why use Numpy</vt:lpstr>
      <vt:lpstr>Creating Arrays with Dimensions</vt:lpstr>
      <vt:lpstr>Dimensions in Arrays</vt:lpstr>
      <vt:lpstr>0-D Arrays</vt:lpstr>
      <vt:lpstr>1-D array.</vt:lpstr>
      <vt:lpstr>2-D Arrays</vt:lpstr>
      <vt:lpstr>3-D arrays</vt:lpstr>
      <vt:lpstr>5 dimensions</vt:lpstr>
      <vt:lpstr>NumPy - Indexing, Accessing Array Element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vikas</cp:lastModifiedBy>
  <cp:revision>28</cp:revision>
  <dcterms:created xsi:type="dcterms:W3CDTF">2025-01-03T10:04:01Z</dcterms:created>
  <dcterms:modified xsi:type="dcterms:W3CDTF">2025-01-03T10:04:01Z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